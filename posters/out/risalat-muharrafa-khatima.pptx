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287500" cy="1905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isalat-muharrafa-khatima-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287500" cy="19050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163481" y="52387"/>
            <a:ext cx="3960387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600"/>
              </a:lnSpc>
            </a:pPr>
            <a:r>
              <a:rPr sz="3000" b="1" lang="ar-SA">
                <a:solidFill>
                  <a:srgbClr val="A8780F"/>
                </a:solidFill>
                <a:latin typeface="Aref Ruqaa"/>
                <a:ea typeface="Aref Ruqaa"/>
                <a:cs typeface="Aref Ruqaa"/>
              </a:rPr>
              <a:t>بسم الله الرحمن الرحيم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811" y="685800"/>
            <a:ext cx="1873377" cy="342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250"/>
              </a:lnSpc>
            </a:pPr>
            <a:r>
              <a:rPr sz="22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الأستاذ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1730" y="934402"/>
            <a:ext cx="2925687" cy="7239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5250"/>
              </a:lnSpc>
            </a:pPr>
            <a:r>
              <a:rPr sz="42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إبراهيم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75910" y="2287214"/>
            <a:ext cx="6335827" cy="7078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5123"/>
              </a:lnSpc>
            </a:pPr>
            <a:r>
              <a:rPr sz="42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الرسالات المحرّفة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98826" y="2937891"/>
            <a:ext cx="3489995" cy="70789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5123"/>
              </a:lnSpc>
            </a:pPr>
            <a:r>
              <a:rPr sz="42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والإسلام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07140" y="4128135"/>
            <a:ext cx="4264199" cy="4000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700"/>
              </a:lnSpc>
            </a:pPr>
            <a:r>
              <a:rPr sz="18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الرسالات المحرّفة والإسلام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10741" y="4894421"/>
            <a:ext cx="1885318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240"/>
              </a:lnSpc>
            </a:pPr>
            <a:r>
              <a:rPr sz="202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اليهودية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62129" y="4894421"/>
            <a:ext cx="2143791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240"/>
              </a:lnSpc>
            </a:pPr>
            <a:r>
              <a:rPr sz="202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المسيحية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8192" y="4894421"/>
            <a:ext cx="1792616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240"/>
              </a:lnSpc>
            </a:pPr>
            <a:r>
              <a:rPr sz="202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الإسلام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5990986"/>
            <a:ext cx="2914650" cy="7277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640"/>
              </a:lnSpc>
            </a:pPr>
            <a:r>
              <a:rPr sz="165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الانحرافات العقائدية لليهود والنصارى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6995" y="5623440"/>
            <a:ext cx="2712958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الإله </a:t>
            </a:r>
            <a:r>
              <a:rPr sz="1500" b="1" lang="ar-SA">
                <a:solidFill>
                  <a:srgbClr val="A8780F"/>
                </a:solidFill>
                <a:latin typeface="Tajawal"/>
                <a:ea typeface="Tajawal"/>
                <a:cs typeface="Tajawal"/>
              </a:rPr>
              <a:t>(عُزير ابن الله)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0976" y="6112936"/>
            <a:ext cx="1504997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الأنبياء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7491" y="6602432"/>
            <a:ext cx="4311967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النسب العنصرية والتجسيم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6128" y="5623440"/>
            <a:ext cx="2955643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الإله </a:t>
            </a:r>
            <a:r>
              <a:rPr sz="1500" b="1" lang="ar-SA">
                <a:solidFill>
                  <a:srgbClr val="A8780F"/>
                </a:solidFill>
                <a:latin typeface="Tajawal"/>
                <a:ea typeface="Tajawal"/>
                <a:cs typeface="Tajawal"/>
              </a:rPr>
              <a:t>(عيسى ابن الله)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3268" y="6112936"/>
            <a:ext cx="2961513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الخطيئة والخلاص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58598" y="6602432"/>
            <a:ext cx="4150852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التوسّط والتحليل والتحريم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245" y="5868114"/>
            <a:ext cx="3028509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العقيدة الإسلامية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2158" y="6357610"/>
            <a:ext cx="1524833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التوحيد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7559486"/>
            <a:ext cx="2914650" cy="7277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640"/>
              </a:lnSpc>
            </a:pPr>
            <a:r>
              <a:rPr sz="165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الكتب - المصادر والمراجع للعقائد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2285" y="7436613"/>
            <a:ext cx="2702230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الكتاب المقدّس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9465" y="7926109"/>
            <a:ext cx="1527869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التلمود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86225" y="7283358"/>
            <a:ext cx="2895600" cy="7886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الكتاب المقدّس </a:t>
            </a:r>
            <a:r>
              <a:rPr sz="1500" b="1" lang="ar-SA">
                <a:solidFill>
                  <a:srgbClr val="A8780F"/>
                </a:solidFill>
                <a:latin typeface="Tajawal"/>
                <a:ea typeface="Tajawal"/>
                <a:cs typeface="Tajawal"/>
              </a:rPr>
              <a:t>(العهد القديم - العهد الجديد)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39913" y="8109019"/>
            <a:ext cx="2588073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التقليد الكنسي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57061" y="7436613"/>
            <a:ext cx="2315027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القرآن الكريم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7657" y="7926109"/>
            <a:ext cx="2353687" cy="4229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879"/>
              </a:lnSpc>
            </a:pP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السنة النبوية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7921" y="9180016"/>
            <a:ext cx="4205906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429"/>
              </a:lnSpc>
            </a:pPr>
            <a:r>
              <a:rPr sz="2025" b="1" lang="ar-SA">
                <a:solidFill>
                  <a:srgbClr val="A8780F"/>
                </a:solidFill>
                <a:latin typeface="Tajawal"/>
                <a:ea typeface="Tajawal"/>
                <a:cs typeface="Tajawal"/>
              </a:rPr>
              <a:t>لماذا لم يُحرَّف الإسلام؟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8075" y="9950209"/>
            <a:ext cx="6210300" cy="8029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936"/>
              </a:lnSpc>
            </a:pPr>
            <a:r>
              <a:rPr sz="217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مميزات وخصائص</a:t>
            </a:r>
          </a:p>
          <a:p>
            <a:pPr algn="ctr" rtl="1">
              <a:lnSpc>
                <a:spcPts val="2936"/>
              </a:lnSpc>
            </a:pPr>
            <a:r>
              <a:rPr sz="217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الرسالة الخاتمة (الإسلام)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48178" y="12295882"/>
            <a:ext cx="2030241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600"/>
              </a:lnSpc>
            </a:pP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✦ </a:t>
            </a:r>
            <a:r>
              <a:rPr sz="30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جامعة</a:t>
            </a: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 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55885" y="13286482"/>
            <a:ext cx="1814679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600"/>
              </a:lnSpc>
            </a:pP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✦ </a:t>
            </a:r>
            <a:r>
              <a:rPr sz="30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خالدة</a:t>
            </a: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 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35431" y="14277082"/>
            <a:ext cx="1655587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600"/>
              </a:lnSpc>
            </a:pP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✦ </a:t>
            </a:r>
            <a:r>
              <a:rPr sz="30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عامة</a:t>
            </a: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 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6587" y="15267682"/>
            <a:ext cx="2533423" cy="5143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600"/>
              </a:lnSpc>
            </a:pP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✦ </a:t>
            </a:r>
            <a:r>
              <a:rPr sz="300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محفوظة</a:t>
            </a:r>
            <a:r>
              <a:rPr sz="195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 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9125" y="9950209"/>
            <a:ext cx="6210300" cy="8029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2936"/>
              </a:lnSpc>
            </a:pPr>
            <a:r>
              <a:rPr sz="217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العلاقة بين الرسالة الخاتمة</a:t>
            </a:r>
          </a:p>
          <a:p>
            <a:pPr algn="ctr" rtl="1">
              <a:lnSpc>
                <a:spcPts val="2936"/>
              </a:lnSpc>
            </a:pPr>
            <a:r>
              <a:rPr sz="2175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والرسالات السماوية السابقة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7225" y="11225658"/>
            <a:ext cx="5848350" cy="4943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442"/>
              </a:lnSpc>
            </a:pPr>
            <a:r>
              <a:rPr sz="2025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مصدِّقة: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8675" y="11837074"/>
            <a:ext cx="5791200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240"/>
              </a:lnSpc>
            </a:pPr>
            <a:r>
              <a:rPr sz="180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⇐ </a:t>
            </a: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التوحيد (لا إله إلا الله - فاعبدوني...)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675" y="12248435"/>
            <a:ext cx="5791200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240"/>
              </a:lnSpc>
            </a:pPr>
            <a:r>
              <a:rPr sz="180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⇐ </a:t>
            </a: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العبادات (الصلاة - الزكاة - الصيام...)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8675" y="12659796"/>
            <a:ext cx="5791200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240"/>
              </a:lnSpc>
            </a:pPr>
            <a:r>
              <a:rPr sz="180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⇐ </a:t>
            </a: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الأخلاق (الصدق - الأمانة - الحياء...)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8675" y="13071157"/>
            <a:ext cx="5791200" cy="4686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240"/>
              </a:lnSpc>
            </a:pPr>
            <a:r>
              <a:rPr sz="1800" b="1" lang="ar-SA">
                <a:solidFill>
                  <a:srgbClr val="E0A82E"/>
                </a:solidFill>
                <a:latin typeface="Tajawal"/>
                <a:ea typeface="Tajawal"/>
                <a:cs typeface="Tajawal"/>
              </a:rPr>
              <a:t>⇐ </a:t>
            </a:r>
            <a:r>
              <a:rPr sz="1800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تحريم الفواحش (الخمر - الزنى - السرقة...)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7225" y="14170074"/>
            <a:ext cx="5848350" cy="4943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442"/>
              </a:lnSpc>
            </a:pPr>
            <a:r>
              <a:rPr sz="2025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مصحِّحة:</a:t>
            </a:r>
            <a:r>
              <a:rPr sz="2025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 </a:t>
            </a:r>
            <a:r>
              <a:rPr sz="2025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مناقشة الانحرافات.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7225" y="15094929"/>
            <a:ext cx="5848350" cy="9315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442"/>
              </a:lnSpc>
            </a:pPr>
            <a:r>
              <a:rPr sz="2025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مبشِّرة:</a:t>
            </a:r>
            <a:r>
              <a:rPr sz="2025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 </a:t>
            </a:r>
            <a:r>
              <a:rPr sz="2025" b="1" lang="ar-SA">
                <a:solidFill>
                  <a:srgbClr val="1D2333"/>
                </a:solidFill>
                <a:latin typeface="Tajawal"/>
                <a:ea typeface="Tajawal"/>
                <a:cs typeface="Tajawal"/>
              </a:rPr>
              <a:t>بشّرت الرسالات السابقة بنبيّ اسمه أحمد صلى الله عليه وسلم.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7225" y="16366926"/>
            <a:ext cx="5848350" cy="4943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 rtl="1">
              <a:lnSpc>
                <a:spcPts val="3442"/>
              </a:lnSpc>
            </a:pPr>
            <a:r>
              <a:rPr sz="2025" b="1" lang="ar-SA">
                <a:solidFill>
                  <a:srgbClr val="1E7A45"/>
                </a:solidFill>
                <a:latin typeface="Tajawal"/>
                <a:ea typeface="Tajawal"/>
                <a:cs typeface="Tajawal"/>
              </a:rPr>
              <a:t>ناسخة.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7168" y="18159412"/>
            <a:ext cx="3467933" cy="4914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420"/>
              </a:lnSpc>
            </a:pPr>
            <a:r>
              <a:rPr sz="2850" b="1" lang="ar-SA">
                <a:solidFill>
                  <a:srgbClr val="E0A82E"/>
                </a:solidFill>
                <a:latin typeface="Aref Ruqaa"/>
                <a:ea typeface="Aref Ruqaa"/>
                <a:cs typeface="Aref Ruqaa"/>
              </a:rPr>
              <a:t>بالتوفيق إن شاء الله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996672" y="18111787"/>
            <a:ext cx="4294155" cy="5372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 rtl="1">
              <a:lnSpc>
                <a:spcPts val="3779"/>
              </a:lnSpc>
            </a:pPr>
            <a:r>
              <a:rPr sz="3150" b="1" lang="ar-SA">
                <a:solidFill>
                  <a:srgbClr val="FFFFFF"/>
                </a:solidFill>
                <a:latin typeface="Tajawal"/>
                <a:ea typeface="Tajawal"/>
                <a:cs typeface="Tajawal"/>
              </a:rPr>
              <a:t>الأستاذ إبراهيم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